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Mid-Stage Collaborative Decider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Chicago, 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teacher (on disability)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MG (3 years)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fluctuating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50492" y="3364992"/>
            <a:ext cx="850392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1650492" y="33649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10612" y="3364992"/>
            <a:ext cx="1472184" cy="274320"/>
          </a:xfrm>
          <a:prstGeom prst="roundRect">
            <a:avLst>
              <a:gd name="adj" fmla="val 16667"/>
            </a:avLst>
          </a:prstGeom>
          <a:solidFill>
            <a:srgbClr val="2E1E5E"/>
          </a:solidFill>
          <a:ln/>
        </p:spPr>
      </p:sp>
      <p:sp>
        <p:nvSpPr>
          <p:cNvPr id="20" name="Text 18"/>
          <p:cNvSpPr/>
          <p:nvPr/>
        </p:nvSpPr>
        <p:spPr>
          <a:xfrm>
            <a:off x="2610612" y="33649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SPOUSE-DEPENDENT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me stop without losing my matches is the single most important design decision in this whole flow.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fit” bucket: the single best sentence on the site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/ Path B split kept her in the funnel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“Approximate matches” badge as credibility multiplier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 treatment, looking for better” option felt validating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Per-card “Why we matched you” explainability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DNAvisit appears unannounced at consent; would freeze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share-with-doctor or print-for-appointment view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side-effect or treatment-burden info on cards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or insurance information on cards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surface “competent but a little cold”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copy “the linguistic equivalent of beige”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is missing as a third-party stakeholder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 binder; forgets questions at appointments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print matches and bring them in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largest MG segment (mid-stage)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MG decisions as collaborative, not unilateral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Churn Risk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Chirpy or marketing-y first follow-up email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miss you” or generic re-engagement patterns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green-healthcare imagery and stock photos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the business model (who actually pays?)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patient stories with no human face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match cards that feel like withholding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Williams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Diagnosed Power Reviewer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Austin, TX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(startup)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Ocular MG (6 months)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Mild-moderate, ptosis and diplopia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(early adopter)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3B2E0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3364992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364992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7852" y="3364992"/>
            <a:ext cx="1083564" cy="274320"/>
          </a:xfrm>
          <a:prstGeom prst="roundRect">
            <a:avLst>
              <a:gd name="adj" fmla="val 16667"/>
            </a:avLst>
          </a:prstGeom>
          <a:solidFill>
            <a:srgbClr val="0D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3387852" y="3364992"/>
            <a:ext cx="1083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to let me browse and upgrade later is the same logic Plaid figured out for banking five years ago.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fit” bucket better than 90% of patient products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“Approximate matches” framing: grown-up product design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3-question quiz length below his abandon threshold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not sure” first-class option on every question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preserved his exit and his trust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ocular profile shows generalized-MG matches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DNAvisit unknown: “Who are they? SOC 2 status?”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methodology or algorithm transparency page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filter, sort, or compare on the matches list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citations to ClinicalTrials.gov or FDA labels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the dynamic-matching bug in the prototype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for: methods, filter/sort, compare, denominator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cross-check matches against primary sources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burner-test the email-restraint promise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privacy policy and data-export in product chrome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Churn Risk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that don’t survive ClinicalTrials.gov cross-check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DNAvisit security incident in their history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feeling on a second visit, no methods page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filter/sort/compare available by visit two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matches after his clinical profile evolves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cadence that violates the scarcity promise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Dorothy Martinez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Caregiver-Piloted Refractory Patient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Nebraska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postal worker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MG (18 years, refractory)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Severe, frequent exacerbations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(tablet for video calls)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3B0D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72768" y="336499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768" y="336499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43784" y="3364992"/>
            <a:ext cx="1627632" cy="274320"/>
          </a:xfrm>
          <a:prstGeom prst="roundRect">
            <a:avLst>
              <a:gd name="adj" fmla="val 16667"/>
            </a:avLst>
          </a:prstGeom>
          <a:solidFill>
            <a:srgbClr val="2E1E5E"/>
          </a:solidFill>
          <a:ln/>
        </p:spPr>
      </p:sp>
      <p:sp>
        <p:nvSpPr>
          <p:cNvPr id="20" name="Text 18"/>
          <p:cNvSpPr/>
          <p:nvPr/>
        </p:nvSpPr>
        <p:spPr>
          <a:xfrm>
            <a:off x="2843784" y="336499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DAUGHTER-DEPENDENT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 that I could leave without giving them everything and still come back is the moment I started trusting this.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existed; she’d close the tablet without 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“Tried more than 3 things” acknowledged her reality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2-minute completion time was honest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Refractory-specific options remained visible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matches across sessions felt safe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DNAvisit screen: would close the tablet without Linda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page alone (small text, legal, hospital systems)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“upgrade” feels like a phone plan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phone number anywhere on the marketing surface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hospital affiliation or doctor name visible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know which hospital systems hold records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Caregiver-mode is a structural feature gap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 Linda taps, reads legal, picks the password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Linda’s email: “but then it’s not really my account”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or audio option for content delivery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implications of caregiver-as-first-class user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Churn Risk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email containing the word “upgrade”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surfacing options she already tried and failed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missing realistic refractory options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flow that requires her to act without Linda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patient-portal tone toward refractory patients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stories with no Nebraska or rural voices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UX REVIEW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Patel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Native Life-Stage Reviewer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0"/>
          </a:xfrm>
          <a:prstGeom prst="line">
            <a:avLst/>
          </a:prstGeom>
          <a:noFill/>
          <a:ln w="12700">
            <a:solidFill>
              <a:srgbClr val="1E2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Age: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Occupation: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(fashion)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Diagnosis: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MG (2 years, Anti-MuSK+)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15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Severity: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fluctuating weakness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 comfort: 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(digital native)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1161288" cy="274320"/>
          </a:xfrm>
          <a:prstGeom prst="roundRect">
            <a:avLst>
              <a:gd name="adj" fmla="val 16667"/>
            </a:avLst>
          </a:prstGeom>
          <a:solidFill>
            <a:srgbClr val="0D3B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28216" y="3364992"/>
            <a:ext cx="1549908" cy="274320"/>
          </a:xfrm>
          <a:prstGeom prst="roundRect">
            <a:avLst>
              <a:gd name="adj" fmla="val 16667"/>
            </a:avLst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1728216" y="3364992"/>
            <a:ext cx="1549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LIFESTYLE-FOCUSED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7852" y="3364992"/>
            <a:ext cx="1394460" cy="274320"/>
          </a:xfrm>
          <a:prstGeom prst="roundRect">
            <a:avLst>
              <a:gd name="adj" fmla="val 16667"/>
            </a:avLst>
          </a:prstGeom>
          <a:solidFill>
            <a:srgbClr val="1E2A5E"/>
          </a:solidFill>
          <a:ln/>
        </p:spPr>
      </p:sp>
      <p:sp>
        <p:nvSpPr>
          <p:cNvPr id="20" name="Text 18"/>
          <p:cNvSpPr/>
          <p:nvPr/>
        </p:nvSpPr>
        <p:spPr>
          <a:xfrm>
            <a:off x="3387852" y="3364992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8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SELF-SUFFICIENT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8A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4223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'connect later' choice exists because of people like me. Thank you for not blocking my exit.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50292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47488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fit” bucket: would screenshot and share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is “because of people like me”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DNAvisit named (vs. buried) earned a trust deposit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“Approximate matches” framing built credibility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don’t know” first-class option on every question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32004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9912" y="502920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42976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39912" y="73152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matches AChR-coded even when MuSK+ selected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MuSK+ content structurally underweight as a library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pregnancy, career, or lifestyle quiz dimensions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stories should be opt-in names + photos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surface: “competent. forgettable.”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 for oral vs. infusion treatment formats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66160"/>
            <a:ext cx="109728" cy="109728"/>
          </a:xfrm>
          <a:prstGeom prst="ellipse">
            <a:avLst/>
          </a:prstGeom>
          <a:solidFill>
            <a:srgbClr val="6B8A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47488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is medically scoped, not life-stage scoped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Pregnancy, career, oral-vs-infusion all missing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MuSK+ content gap is structural, not routing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on Facebook in a week if no community surface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stories instead of named ambassadors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257032" y="3383280"/>
            <a:ext cx="3410712" cy="2880360"/>
          </a:xfrm>
          <a:prstGeom prst="roundRect">
            <a:avLst>
              <a:gd name="adj" fmla="val 2540"/>
            </a:avLst>
          </a:prstGeom>
          <a:solidFill>
            <a:srgbClr val="141929"/>
          </a:solidFill>
          <a:ln w="9525">
            <a:solidFill>
              <a:srgbClr val="1E2A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9912" y="3566160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34930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Churn Risk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39912" y="3794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email with generic AChR content for MuSK+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stories instead of real, shareable names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“Dear patient” generic greetings in any email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to find another MuSK+ woman in her 20s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stories that aren't worth screenshotting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MuSK+ patients sent to a Facebook group by default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Persona Snapshots</dc:title>
  <dc:subject>PptxGenJS Presentation</dc:subject>
  <dc:creator>Resonata</dc:creator>
  <cp:lastModifiedBy>Resonata</cp:lastModifiedBy>
  <cp:revision>1</cp:revision>
  <dcterms:created xsi:type="dcterms:W3CDTF">2026-03-25T17:47:53Z</dcterms:created>
  <dcterms:modified xsi:type="dcterms:W3CDTF">2026-03-25T17:47:53Z</dcterms:modified>
</cp:coreProperties>
</file>